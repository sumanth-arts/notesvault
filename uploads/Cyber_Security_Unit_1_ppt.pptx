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58"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BFB11"/>
            </a:gs>
            <a:gs pos="100000">
              <a:srgbClr val="838309"/>
            </a:gs>
          </a:gsLst>
          <a:lin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spc="-1">
                <a:solidFill>
                  <a:schemeClr val="dk1"/>
                </a:solidFill>
                <a:latin typeface="Dela Gothic One"/>
                <a:ea typeface="Dela Gothic One"/>
                <a:sym typeface="+mn-ea"/>
              </a:rPr>
              <a:t>Abode of Knowledge</a:t>
            </a:r>
            <a:endParaRPr lang="en-US" b="1" dirty="0"/>
          </a:p>
        </p:txBody>
      </p:sp>
      <p:sp>
        <p:nvSpPr>
          <p:cNvPr id="3" name="Subtitle 2"/>
          <p:cNvSpPr>
            <a:spLocks noGrp="1"/>
          </p:cNvSpPr>
          <p:nvPr>
            <p:ph type="subTitle" idx="1"/>
          </p:nvPr>
        </p:nvSpPr>
        <p:spPr/>
        <p:txBody>
          <a:bodyPr/>
          <a:lstStyle/>
          <a:p>
            <a:r>
              <a:rPr lang="en-GB" b="1" spc="-1">
                <a:solidFill>
                  <a:schemeClr val="tx1"/>
                </a:solidFill>
                <a:latin typeface="Montserrat Medium"/>
                <a:ea typeface="Montserrat Medium"/>
                <a:sym typeface="+mn-ea"/>
              </a:rPr>
              <a:t>Exploring Raj Yoga and Bhakti Yoga</a:t>
            </a:r>
            <a:endParaRPr lang="en-GB" b="1" spc="-1">
              <a:solidFill>
                <a:schemeClr val="tx1"/>
              </a:solidFill>
              <a:latin typeface="Montserrat Medium"/>
              <a:ea typeface="Montserrat Medium"/>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pc="-1">
                <a:solidFill>
                  <a:schemeClr val="dk1"/>
                </a:solidFill>
                <a:latin typeface="Arial" panose="020B0604020202020204" pitchFamily="34" charset="0"/>
                <a:ea typeface="Dela Gothic One"/>
                <a:cs typeface="Arial" panose="020B0604020202020204" pitchFamily="34" charset="0"/>
                <a:sym typeface="+mn-ea"/>
              </a:rPr>
              <a:t>RAJA YOGA </a:t>
            </a:r>
            <a:r>
              <a:rPr lang="en-GB" spc="-1">
                <a:solidFill>
                  <a:schemeClr val="dk1"/>
                </a:solidFill>
                <a:latin typeface="Arial" panose="020B0604020202020204" pitchFamily="34" charset="0"/>
                <a:ea typeface="Dela Gothic One"/>
                <a:cs typeface="Arial" panose="020B0604020202020204" pitchFamily="34" charset="0"/>
                <a:sym typeface="+mn-ea"/>
              </a:rPr>
              <a:t>Definition</a:t>
            </a:r>
            <a:r>
              <a:rPr lang="en-GB" spc="-1">
                <a:solidFill>
                  <a:schemeClr val="dk1"/>
                </a:solidFill>
                <a:latin typeface="Dela Gothic One"/>
                <a:ea typeface="Dela Gothic One"/>
                <a:sym typeface="+mn-ea"/>
              </a:rPr>
              <a:t> </a:t>
            </a:r>
            <a:r>
              <a:rPr lang="en-US" altLang="en-GB" spc="-1">
                <a:solidFill>
                  <a:schemeClr val="dk1"/>
                </a:solidFill>
                <a:latin typeface="Dela Gothic One"/>
                <a:ea typeface="Dela Gothic One"/>
                <a:sym typeface="+mn-ea"/>
              </a:rPr>
              <a:t>:</a:t>
            </a:r>
            <a:endParaRPr lang="en-US" altLang="en-GB" spc="-1">
              <a:solidFill>
                <a:schemeClr val="dk1"/>
              </a:solidFill>
              <a:latin typeface="Dela Gothic One"/>
              <a:ea typeface="Dela Gothic One"/>
              <a:sym typeface="+mn-ea"/>
            </a:endParaRPr>
          </a:p>
        </p:txBody>
      </p:sp>
      <p:sp>
        <p:nvSpPr>
          <p:cNvPr id="3" name="Content Placeholder 2"/>
          <p:cNvSpPr>
            <a:spLocks noGrp="1"/>
          </p:cNvSpPr>
          <p:nvPr>
            <p:ph idx="1"/>
          </p:nvPr>
        </p:nvSpPr>
        <p:spPr/>
        <p:txBody>
          <a:bodyPr/>
          <a:p>
            <a:r>
              <a:rPr lang="en-GB" altLang="en-US"/>
              <a:t>In Sanskrit, the word raja translates as king, chief, or royal. Thus, raja yoga is considered to be the best path to attaining the highest state of yoga—samadhi or enlightenment.</a:t>
            </a:r>
            <a:endParaRPr lang="en-GB" altLang="en-US"/>
          </a:p>
          <a:p>
            <a:r>
              <a:rPr lang="en-GB" altLang="en-US"/>
              <a:t> Swami Vivekananda describes this internal meditative practice as a path towards mastering the whole universe. He writes, “Raja-Yoga proposes to start from the internal world, to study internal nature, and through that, control the whole—both internal and external.”</a:t>
            </a:r>
            <a:endParaRPr lang="en-GB"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29870" y="668655"/>
            <a:ext cx="9006840" cy="1870075"/>
          </a:xfrm>
          <a:prstGeom prst="rect">
            <a:avLst/>
          </a:prstGeom>
        </p:spPr>
        <p:txBody>
          <a:bodyPr>
            <a:noAutofit/>
          </a:bodyPr>
          <a:p>
            <a:pPr marL="0" indent="0"/>
            <a:r>
              <a:rPr sz="3200" b="0" i="0">
                <a:solidFill>
                  <a:srgbClr val="192A47"/>
                </a:solidFill>
                <a:latin typeface="+mj-lt"/>
                <a:ea typeface="-apple-system"/>
                <a:cs typeface="+mj-lt"/>
              </a:rPr>
              <a:t>The practice of raja yoga was compiled by the sage Patanjali in his famous Yoga Sutras during the second century CE</a:t>
            </a:r>
            <a:endParaRPr sz="3200" b="0" i="0">
              <a:solidFill>
                <a:srgbClr val="192A47"/>
              </a:solidFill>
              <a:latin typeface="+mj-lt"/>
              <a:ea typeface="-apple-system"/>
              <a:cs typeface="+mj-lt"/>
            </a:endParaRPr>
          </a:p>
          <a:p>
            <a:pPr marL="0" indent="0"/>
            <a:endParaRPr sz="3200" b="0" i="0">
              <a:solidFill>
                <a:srgbClr val="192A47"/>
              </a:solidFill>
              <a:latin typeface="+mj-lt"/>
              <a:ea typeface="-apple-system"/>
              <a:cs typeface="+mj-lt"/>
            </a:endParaRPr>
          </a:p>
          <a:p>
            <a:pPr marL="0" indent="0"/>
            <a:endParaRPr sz="3200" b="0" i="0">
              <a:solidFill>
                <a:srgbClr val="192A47"/>
              </a:solidFill>
              <a:latin typeface="+mj-lt"/>
              <a:ea typeface="-apple-system"/>
              <a:cs typeface="+mj-lt"/>
            </a:endParaRPr>
          </a:p>
        </p:txBody>
      </p:sp>
      <p:pic>
        <p:nvPicPr>
          <p:cNvPr id="5" name="Picture 4"/>
          <p:cNvPicPr/>
          <p:nvPr/>
        </p:nvPicPr>
        <p:blipFill>
          <a:blip r:embed="rId1"/>
          <a:stretch>
            <a:fillRect/>
          </a:stretch>
        </p:blipFill>
        <p:spPr>
          <a:xfrm>
            <a:off x="5969000" y="2270760"/>
            <a:ext cx="5559425" cy="3810635"/>
          </a:xfrm>
          <a:prstGeom prst="rect">
            <a:avLst/>
          </a:prstGeom>
        </p:spPr>
      </p:pic>
      <p:sp>
        <p:nvSpPr>
          <p:cNvPr id="6" name="Text Box 5"/>
          <p:cNvSpPr txBox="1"/>
          <p:nvPr/>
        </p:nvSpPr>
        <p:spPr>
          <a:xfrm>
            <a:off x="229870" y="2891155"/>
            <a:ext cx="5168265" cy="3190240"/>
          </a:xfrm>
          <a:prstGeom prst="rect">
            <a:avLst/>
          </a:prstGeom>
        </p:spPr>
        <p:txBody>
          <a:bodyPr>
            <a:noAutofit/>
          </a:bodyPr>
          <a:p>
            <a:pPr marL="0" indent="0"/>
            <a:r>
              <a:rPr sz="3200" b="0" i="0">
                <a:solidFill>
                  <a:srgbClr val="192A47"/>
                </a:solidFill>
                <a:latin typeface="Arial" panose="020B0604020202020204" pitchFamily="34" charset="0"/>
                <a:ea typeface="-apple-system"/>
                <a:cs typeface="Arial" panose="020B0604020202020204" pitchFamily="34" charset="0"/>
              </a:rPr>
              <a:t>Patanjali only instructs the Raja </a:t>
            </a:r>
            <a:r>
              <a:rPr lang="en-US" sz="3200" b="0" i="0">
                <a:solidFill>
                  <a:srgbClr val="192A47"/>
                </a:solidFill>
                <a:latin typeface="Arial" panose="020B0604020202020204" pitchFamily="34" charset="0"/>
                <a:ea typeface="-apple-system"/>
                <a:cs typeface="Arial" panose="020B0604020202020204" pitchFamily="34" charset="0"/>
              </a:rPr>
              <a:t>yogi</a:t>
            </a:r>
            <a:r>
              <a:rPr sz="3200" b="0" i="0">
                <a:solidFill>
                  <a:srgbClr val="192A47"/>
                </a:solidFill>
                <a:latin typeface="Arial" panose="020B0604020202020204" pitchFamily="34" charset="0"/>
                <a:ea typeface="-apple-system"/>
                <a:cs typeface="Arial" panose="020B0604020202020204" pitchFamily="34" charset="0"/>
              </a:rPr>
              <a:t> to observe and slow the breath down to the point where one cannot distinguish between the inhalation and the exhalation</a:t>
            </a:r>
            <a:endParaRPr sz="3200" b="0" i="0">
              <a:solidFill>
                <a:srgbClr val="192A47"/>
              </a:solidFill>
              <a:latin typeface="Arial" panose="020B0604020202020204" pitchFamily="34" charset="0"/>
              <a:ea typeface="-apple-system"/>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a:t>The Benefits of Raja Yoga</a:t>
            </a:r>
            <a:r>
              <a:rPr lang="en-US" altLang="en-GB"/>
              <a:t> :</a:t>
            </a:r>
            <a:endParaRPr lang="en-US" altLang="en-GB"/>
          </a:p>
        </p:txBody>
      </p:sp>
      <p:sp>
        <p:nvSpPr>
          <p:cNvPr id="3" name="Content Placeholder 2"/>
          <p:cNvSpPr>
            <a:spLocks noGrp="1"/>
          </p:cNvSpPr>
          <p:nvPr>
            <p:ph idx="1"/>
          </p:nvPr>
        </p:nvSpPr>
        <p:spPr/>
        <p:txBody>
          <a:bodyPr/>
          <a:p>
            <a:pPr marL="0" indent="0">
              <a:buNone/>
            </a:pPr>
            <a:r>
              <a:rPr lang="en-GB" altLang="en-US"/>
              <a:t>Through a dedicated practice of raja yoga, one develops detachment towards worldly objects, our thoughts, and the results of our actions. This develops an understanding of our true nature and leads to the cultivation of inner peace and tranquility.</a:t>
            </a:r>
            <a:endParaRPr lang="en-GB"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a:t>Steps in Raja Yoga</a:t>
            </a:r>
            <a:r>
              <a:rPr lang="en-US" altLang="en-GB"/>
              <a:t> :</a:t>
            </a:r>
            <a:endParaRPr lang="en-US" altLang="en-GB"/>
          </a:p>
        </p:txBody>
      </p:sp>
      <p:sp>
        <p:nvSpPr>
          <p:cNvPr id="3" name="Content Placeholder 2"/>
          <p:cNvSpPr>
            <a:spLocks noGrp="1"/>
          </p:cNvSpPr>
          <p:nvPr>
            <p:ph idx="1"/>
          </p:nvPr>
        </p:nvSpPr>
        <p:spPr/>
        <p:txBody>
          <a:bodyPr/>
          <a:p>
            <a:r>
              <a:rPr lang="en-GB" altLang="en-US"/>
              <a:t>Yama</a:t>
            </a:r>
            <a:endParaRPr lang="en-GB" altLang="en-US"/>
          </a:p>
          <a:p>
            <a:r>
              <a:rPr lang="en-GB" altLang="en-US"/>
              <a:t>Niyama</a:t>
            </a:r>
            <a:endParaRPr lang="en-GB" altLang="en-US"/>
          </a:p>
          <a:p>
            <a:r>
              <a:rPr lang="en-GB" altLang="en-US"/>
              <a:t>Asana</a:t>
            </a:r>
            <a:endParaRPr lang="en-GB" altLang="en-US"/>
          </a:p>
          <a:p>
            <a:r>
              <a:rPr lang="en-GB" altLang="en-US"/>
              <a:t>Pranayama</a:t>
            </a:r>
            <a:endParaRPr lang="en-GB" altLang="en-US"/>
          </a:p>
          <a:p>
            <a:r>
              <a:rPr lang="en-GB" altLang="en-US"/>
              <a:t>Pratyahara</a:t>
            </a:r>
            <a:endParaRPr lang="en-GB" altLang="en-US"/>
          </a:p>
          <a:p>
            <a:r>
              <a:rPr lang="en-GB" altLang="en-US"/>
              <a:t>Dharana</a:t>
            </a:r>
            <a:endParaRPr lang="en-GB" altLang="en-US"/>
          </a:p>
          <a:p>
            <a:r>
              <a:rPr lang="en-GB" altLang="en-US"/>
              <a:t>Dhyana</a:t>
            </a:r>
            <a:endParaRPr lang="en-GB" altLang="en-US"/>
          </a:p>
          <a:p>
            <a:r>
              <a:rPr lang="en-GB" altLang="en-US"/>
              <a:t>Samadhi</a:t>
            </a:r>
            <a:endParaRPr lang="en-GB"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94615" y="461010"/>
            <a:ext cx="7733030" cy="4455160"/>
          </a:xfrm>
          <a:prstGeom prst="rect">
            <a:avLst/>
          </a:prstGeom>
        </p:spPr>
        <p:txBody>
          <a:bodyPr>
            <a:noAutofit/>
          </a:bodyPr>
          <a:p>
            <a:pPr marL="0" indent="0"/>
            <a:r>
              <a:rPr sz="3200" b="0" i="0">
                <a:solidFill>
                  <a:srgbClr val="192A47"/>
                </a:solidFill>
                <a:latin typeface="Arial" panose="020B0604020202020204" pitchFamily="34" charset="0"/>
                <a:ea typeface="-apple-system"/>
                <a:cs typeface="Arial" panose="020B0604020202020204" pitchFamily="34" charset="0"/>
              </a:rPr>
              <a:t>The steps to practicing raja yoga appear complex and difficult at first, but will become easier with patience and continued practice. As Swami Vivekananda writes, “Practice is absolutely necessary. You may sit down and listen to me by the hour every day, but if you do not practice, you will not get one step further. It all depends on practice. We never understand these things until we experience them. We will have to see and feel them for ourselves.”</a:t>
            </a:r>
            <a:endParaRPr sz="3200" b="0" i="0">
              <a:solidFill>
                <a:srgbClr val="192A47"/>
              </a:solidFill>
              <a:latin typeface="Arial" panose="020B0604020202020204" pitchFamily="34" charset="0"/>
              <a:ea typeface="-apple-system"/>
              <a:cs typeface="Arial" panose="020B0604020202020204" pitchFamily="34" charset="0"/>
            </a:endParaRPr>
          </a:p>
        </p:txBody>
      </p:sp>
      <p:pic>
        <p:nvPicPr>
          <p:cNvPr id="5" name="Picture 4"/>
          <p:cNvPicPr/>
          <p:nvPr/>
        </p:nvPicPr>
        <p:blipFill>
          <a:blip r:embed="rId1"/>
          <a:stretch>
            <a:fillRect/>
          </a:stretch>
        </p:blipFill>
        <p:spPr>
          <a:xfrm>
            <a:off x="7651750" y="1069340"/>
            <a:ext cx="4123690" cy="4338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a:t>Bhakti Yoga</a:t>
            </a:r>
            <a:r>
              <a:rPr lang="en-US" altLang="en-GB"/>
              <a:t>:</a:t>
            </a:r>
            <a:endParaRPr lang="en-US" altLang="en-GB"/>
          </a:p>
        </p:txBody>
      </p:sp>
      <p:sp>
        <p:nvSpPr>
          <p:cNvPr id="3" name="Content Placeholder 2"/>
          <p:cNvSpPr>
            <a:spLocks noGrp="1"/>
          </p:cNvSpPr>
          <p:nvPr>
            <p:ph idx="1"/>
          </p:nvPr>
        </p:nvSpPr>
        <p:spPr/>
        <p:txBody>
          <a:bodyPr/>
          <a:p>
            <a:r>
              <a:rPr lang="en-GB" altLang="en-US"/>
              <a:t>Bhakti means “devotion” or “love”, and this Sanskrit term originates from the root word “bhaj,” which translates as “devotion, worship or to serve God”</a:t>
            </a:r>
            <a:endParaRPr lang="en-GB" altLang="en-US"/>
          </a:p>
          <a:p>
            <a:r>
              <a:rPr lang="en-GB" altLang="en-US"/>
              <a:t>Bhakti Yoga is one of the four main yogic paths to enlightenment</a:t>
            </a:r>
            <a:r>
              <a:rPr lang="en-US" altLang="en-GB"/>
              <a:t>.</a:t>
            </a:r>
            <a:endParaRPr lang="en-US" altLang="en-GB"/>
          </a:p>
          <a:p>
            <a:r>
              <a:rPr lang="en-US" altLang="en-GB"/>
              <a:t>Bhakti Yoga is considered the easiest yogic path to master and the most direct method to experience the unity of mind, body, and spirit</a:t>
            </a:r>
            <a:endParaRPr lang="en-US" alt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2235" y="1021397"/>
            <a:ext cx="5080000" cy="2553335"/>
          </a:xfrm>
          <a:prstGeom prst="rect">
            <a:avLst/>
          </a:prstGeom>
        </p:spPr>
        <p:txBody>
          <a:bodyPr>
            <a:spAutoFit/>
          </a:bodyPr>
          <a:p>
            <a:pPr marL="0" indent="0"/>
            <a:r>
              <a:rPr sz="3200" b="0" i="0">
                <a:solidFill>
                  <a:srgbClr val="192A47"/>
                </a:solidFill>
                <a:latin typeface="Arial" panose="020B0604020202020204" pitchFamily="34" charset="0"/>
                <a:ea typeface="-apple-system"/>
                <a:cs typeface="Arial" panose="020B0604020202020204" pitchFamily="34" charset="0"/>
              </a:rPr>
              <a:t>Some of the prominent Bhakti saints include Mirabai, Surdas, Kabir, Tulsidas, and Chaitanya Mahaprabhu</a:t>
            </a:r>
            <a:endParaRPr sz="3200" b="0" i="0">
              <a:solidFill>
                <a:srgbClr val="192A47"/>
              </a:solidFill>
              <a:latin typeface="Arial" panose="020B0604020202020204" pitchFamily="34" charset="0"/>
              <a:ea typeface="-apple-system"/>
              <a:cs typeface="Arial" panose="020B0604020202020204" pitchFamily="34" charset="0"/>
            </a:endParaRPr>
          </a:p>
        </p:txBody>
      </p:sp>
      <p:pic>
        <p:nvPicPr>
          <p:cNvPr id="5" name="Picture 4"/>
          <p:cNvPicPr/>
          <p:nvPr/>
        </p:nvPicPr>
        <p:blipFill>
          <a:blip r:embed="rId1"/>
          <a:stretch>
            <a:fillRect/>
          </a:stretch>
        </p:blipFill>
        <p:spPr>
          <a:xfrm>
            <a:off x="4850765" y="1009650"/>
            <a:ext cx="1905000" cy="2781300"/>
          </a:xfrm>
          <a:prstGeom prst="rect">
            <a:avLst/>
          </a:prstGeom>
        </p:spPr>
      </p:pic>
      <p:pic>
        <p:nvPicPr>
          <p:cNvPr id="6" name="Picture 5"/>
          <p:cNvPicPr/>
          <p:nvPr/>
        </p:nvPicPr>
        <p:blipFill>
          <a:blip r:embed="rId2"/>
          <a:stretch>
            <a:fillRect/>
          </a:stretch>
        </p:blipFill>
        <p:spPr>
          <a:xfrm>
            <a:off x="6755765" y="124460"/>
            <a:ext cx="2788285" cy="3068955"/>
          </a:xfrm>
          <a:prstGeom prst="rect">
            <a:avLst/>
          </a:prstGeom>
        </p:spPr>
      </p:pic>
      <p:pic>
        <p:nvPicPr>
          <p:cNvPr id="7" name="Picture 6"/>
          <p:cNvPicPr/>
          <p:nvPr/>
        </p:nvPicPr>
        <p:blipFill>
          <a:blip r:embed="rId3"/>
          <a:srcRect l="25569" r="26646"/>
          <a:stretch>
            <a:fillRect/>
          </a:stretch>
        </p:blipFill>
        <p:spPr>
          <a:xfrm>
            <a:off x="9544050" y="1021080"/>
            <a:ext cx="1465580" cy="2183130"/>
          </a:xfrm>
          <a:prstGeom prst="rect">
            <a:avLst/>
          </a:prstGeom>
        </p:spPr>
      </p:pic>
      <p:pic>
        <p:nvPicPr>
          <p:cNvPr id="8" name="Picture 7"/>
          <p:cNvPicPr/>
          <p:nvPr/>
        </p:nvPicPr>
        <p:blipFill>
          <a:blip r:embed="rId4"/>
          <a:stretch>
            <a:fillRect/>
          </a:stretch>
        </p:blipFill>
        <p:spPr>
          <a:xfrm>
            <a:off x="6755765" y="3204210"/>
            <a:ext cx="1932940" cy="2745740"/>
          </a:xfrm>
          <a:prstGeom prst="rect">
            <a:avLst/>
          </a:prstGeom>
        </p:spPr>
      </p:pic>
      <p:pic>
        <p:nvPicPr>
          <p:cNvPr id="9" name="Picture 8"/>
          <p:cNvPicPr/>
          <p:nvPr/>
        </p:nvPicPr>
        <p:blipFill>
          <a:blip r:embed="rId5"/>
          <a:stretch>
            <a:fillRect/>
          </a:stretch>
        </p:blipFill>
        <p:spPr>
          <a:xfrm>
            <a:off x="8688705" y="3204210"/>
            <a:ext cx="3409315" cy="25152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a:t>The Nine Limbs of Devotion</a:t>
            </a:r>
            <a:r>
              <a:rPr lang="en-US" altLang="en-GB"/>
              <a:t>:</a:t>
            </a:r>
            <a:endParaRPr lang="en-US" altLang="en-GB"/>
          </a:p>
        </p:txBody>
      </p:sp>
      <p:sp>
        <p:nvSpPr>
          <p:cNvPr id="3" name="Content Placeholder 2"/>
          <p:cNvSpPr>
            <a:spLocks noGrp="1"/>
          </p:cNvSpPr>
          <p:nvPr>
            <p:ph idx="1"/>
          </p:nvPr>
        </p:nvSpPr>
        <p:spPr/>
        <p:txBody>
          <a:bodyPr/>
          <a:p>
            <a:r>
              <a:rPr lang="en-GB" altLang="en-US"/>
              <a:t>Shravana</a:t>
            </a:r>
            <a:endParaRPr lang="en-GB" altLang="en-US"/>
          </a:p>
          <a:p>
            <a:r>
              <a:rPr lang="en-GB" altLang="en-US"/>
              <a:t>Kirtana </a:t>
            </a:r>
            <a:endParaRPr lang="en-GB" altLang="en-US"/>
          </a:p>
          <a:p>
            <a:r>
              <a:rPr lang="en-GB" altLang="en-US"/>
              <a:t>Smarana</a:t>
            </a:r>
            <a:endParaRPr lang="en-GB" altLang="en-US"/>
          </a:p>
          <a:p>
            <a:r>
              <a:rPr lang="en-GB" altLang="en-US"/>
              <a:t>Padasevana</a:t>
            </a:r>
            <a:endParaRPr lang="en-GB" altLang="en-US"/>
          </a:p>
          <a:p>
            <a:r>
              <a:rPr lang="en-GB" altLang="en-US"/>
              <a:t>Archana</a:t>
            </a:r>
            <a:endParaRPr lang="en-GB" altLang="en-US"/>
          </a:p>
          <a:p>
            <a:r>
              <a:rPr lang="en-GB" altLang="en-US"/>
              <a:t>Vandana</a:t>
            </a:r>
            <a:endParaRPr lang="en-GB" altLang="en-US"/>
          </a:p>
          <a:p>
            <a:r>
              <a:rPr lang="en-GB" altLang="en-US"/>
              <a:t>Dasya</a:t>
            </a:r>
            <a:endParaRPr lang="en-GB" altLang="en-US"/>
          </a:p>
          <a:p>
            <a:r>
              <a:rPr lang="en-GB" altLang="en-US"/>
              <a:t>Sakhya</a:t>
            </a:r>
            <a:endParaRPr lang="en-GB" altLang="en-US"/>
          </a:p>
          <a:p>
            <a:r>
              <a:rPr lang="en-GB" altLang="en-US"/>
              <a:t>Atmanivedana</a:t>
            </a:r>
            <a:endParaRPr lang="en-GB"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References :</a:t>
            </a:r>
            <a:endParaRPr lang="en-US" altLang="en-GB"/>
          </a:p>
        </p:txBody>
      </p:sp>
      <p:sp>
        <p:nvSpPr>
          <p:cNvPr id="3" name="Content Placeholder 2"/>
          <p:cNvSpPr>
            <a:spLocks noGrp="1"/>
          </p:cNvSpPr>
          <p:nvPr>
            <p:ph idx="1"/>
          </p:nvPr>
        </p:nvSpPr>
        <p:spPr/>
        <p:txBody>
          <a:bodyPr/>
          <a:p>
            <a:r>
              <a:rPr lang="en-GB" altLang="en-US"/>
              <a:t>https://www.yogabasics.com/learn/raja-yoga-oneness-through-meditation/</a:t>
            </a:r>
            <a:endParaRPr lang="en-GB" altLang="en-US"/>
          </a:p>
          <a:p>
            <a:r>
              <a:rPr lang="en-GB" altLang="en-US"/>
              <a:t>https://www.yogabasics.com/learn/bhakti-yoga-the-yoga-of-devotion/</a:t>
            </a:r>
            <a:endParaRPr lang="en-GB"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715385" y="2519680"/>
            <a:ext cx="5558790" cy="1290955"/>
          </a:xfrm>
          <a:prstGeom prst="rect">
            <a:avLst/>
          </a:prstGeom>
          <a:noFill/>
        </p:spPr>
        <p:txBody>
          <a:bodyPr wrap="square" rtlCol="0">
            <a:noAutofit/>
          </a:bodyPr>
          <a:p>
            <a:r>
              <a:rPr lang="en-US" altLang="en-GB" sz="5400"/>
              <a:t>THANK YOU</a:t>
            </a:r>
            <a:endParaRPr lang="en-US" altLang="en-GB" sz="5400"/>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2313</Words>
  <Application>WPS Presentation</Application>
  <PresentationFormat>Widescreen</PresentationFormat>
  <Paragraphs>59</Paragraphs>
  <Slides>11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SimSun</vt:lpstr>
      <vt:lpstr>Wingdings</vt:lpstr>
      <vt:lpstr>Calibri Light</vt:lpstr>
      <vt:lpstr>Calibri</vt:lpstr>
      <vt:lpstr>Microsoft YaHei</vt:lpstr>
      <vt:lpstr>Arial Unicode MS</vt:lpstr>
      <vt:lpstr>Dela Gothic One</vt:lpstr>
      <vt:lpstr>Segoe Print</vt:lpstr>
      <vt:lpstr>Arial</vt:lpstr>
      <vt:lpstr>Montserrat Medium</vt:lpstr>
      <vt:lpstr>OpenSymbol</vt:lpstr>
      <vt:lpstr>-apple-system</vt:lpstr>
      <vt:lpstr>Blue Waves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Abode of Knowledge</dc:title>
  <dc:creator/>
  <cp:lastModifiedBy>Sumanth M</cp:lastModifiedBy>
  <cp:revision>2</cp:revision>
  <dcterms:created xsi:type="dcterms:W3CDTF">2025-03-06T18:09:18Z</dcterms:created>
  <dcterms:modified xsi:type="dcterms:W3CDTF">2025-03-06T18:14:36Z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90E966B633594E6981C537E97E7FF5E4_11</vt:lpwstr>
  </property>
  <property fmtid="{D5CDD505-2E9C-101B-9397-08002B2CF9AE}" pid="3" name="KSOProductBuildVer">
    <vt:lpwstr>2057-12.2.0.18639</vt:lpwstr>
  </property>
</Properties>
</file>